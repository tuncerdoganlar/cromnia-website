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0" r:id="rId2"/>
    <p:sldId id="345" r:id="rId3"/>
    <p:sldId id="346" r:id="rId4"/>
    <p:sldId id="347" r:id="rId5"/>
    <p:sldId id="348" r:id="rId6"/>
    <p:sldId id="349" r:id="rId7"/>
    <p:sldId id="350" r:id="rId8"/>
    <p:sldId id="352" r:id="rId9"/>
    <p:sldId id="263" r:id="rId10"/>
    <p:sldId id="353" r:id="rId11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BEFF7D"/>
    <a:srgbClr val="CCFF99"/>
    <a:srgbClr val="669900"/>
    <a:srgbClr val="A5FDAF"/>
    <a:srgbClr val="78DA7A"/>
    <a:srgbClr val="6BFB7C"/>
    <a:srgbClr val="66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06" autoAdjust="0"/>
    <p:restoredTop sz="94660"/>
  </p:normalViewPr>
  <p:slideViewPr>
    <p:cSldViewPr>
      <p:cViewPr>
        <p:scale>
          <a:sx n="66" d="100"/>
          <a:sy n="66" d="100"/>
        </p:scale>
        <p:origin x="-128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278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A48C504-37AF-4883-8BD2-E1AAE6D56D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Asıl metin stillerini düzenlemek için tıklatın</a:t>
            </a:r>
          </a:p>
          <a:p>
            <a:pPr lvl="1"/>
            <a:r>
              <a:rPr lang="en-GB" noProof="0" smtClean="0"/>
              <a:t>İkinci düzey</a:t>
            </a:r>
          </a:p>
          <a:p>
            <a:pPr lvl="2"/>
            <a:r>
              <a:rPr lang="en-GB" noProof="0" smtClean="0"/>
              <a:t>Üçüncü düzey</a:t>
            </a:r>
          </a:p>
          <a:p>
            <a:pPr lvl="3"/>
            <a:r>
              <a:rPr lang="en-GB" noProof="0" smtClean="0"/>
              <a:t>Dördüncü düzey</a:t>
            </a:r>
          </a:p>
          <a:p>
            <a:pPr lvl="4"/>
            <a:r>
              <a:rPr lang="en-GB" noProof="0" smtClean="0"/>
              <a:t>Beşinci düzey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563EFE3-A70A-46BF-9EA4-CCB72935A8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3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6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7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D09A4-D3F1-4B2A-B4B1-F6AB045B0149}" type="slidenum">
              <a:rPr lang="en-GB" smtClean="0"/>
              <a:pPr/>
              <a:t>8</a:t>
            </a:fld>
            <a:endParaRPr lang="en-GB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9BD61-4FF8-4FD8-8197-361FC4CADD89}" type="slidenum">
              <a:rPr lang="en-GB" smtClean="0"/>
              <a:pPr/>
              <a:t>9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666471-0770-47D4-80EE-233EFF330494}" type="slidenum">
              <a:rPr lang="en-GB" smtClean="0"/>
              <a:pPr/>
              <a:t>10</a:t>
            </a:fld>
            <a:endParaRPr lang="en-GB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2AE30-BC19-48DC-B4F0-1C7564D8C9F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A8B0E-57BF-4D27-A841-ED8489A383BD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9A66C-786F-4B65-AF60-EDF1F8AE01CC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53DC7-2E1E-49E6-81D2-BBF80D02D818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4B05D-CCE4-43BC-906C-DBE867399FD0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4EED6-E4DD-42C6-A3F3-8DC18CF1FF9F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28049-E259-482C-937D-E1D02A96DFB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79070-8305-43A8-B8B0-31F1316374BF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 smtClean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CD6FB-C51F-4283-824B-D77A76B89125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83C37-5FE7-464A-8D33-A1C74FB7B38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15E79-C206-41D1-BBC9-5BA1C624EC9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Asıl başlık stili için tıklatın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53FAC8-029E-437E-B519-233C2F3659B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>
              <a:off x="1519" y="572"/>
              <a:ext cx="2858" cy="2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tr-TR" sz="8000" dirty="0" smtClean="0">
                  <a:solidFill>
                    <a:srgbClr val="00FF00"/>
                  </a:solidFill>
                  <a:latin typeface="Impact" pitchFamily="34" charset="0"/>
                </a:rPr>
                <a:t>CROMNIA</a:t>
              </a:r>
              <a:endParaRPr lang="tr-TR" sz="8000" dirty="0">
                <a:solidFill>
                  <a:srgbClr val="00FF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468313" y="549275"/>
            <a:ext cx="8424862" cy="5759450"/>
          </a:xfrm>
          <a:prstGeom prst="roundRect">
            <a:avLst>
              <a:gd name="adj" fmla="val 12273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3200" b="1" i="1" dirty="0" err="1">
                <a:solidFill>
                  <a:srgbClr val="00FF00"/>
                </a:solidFill>
              </a:rPr>
              <a:t>Our</a:t>
            </a:r>
            <a:r>
              <a:rPr lang="tr-TR" sz="8000" dirty="0">
                <a:solidFill>
                  <a:srgbClr val="00FF00"/>
                </a:solidFill>
                <a:latin typeface="Impact" pitchFamily="34" charset="0"/>
              </a:rPr>
              <a:t> </a:t>
            </a:r>
            <a:r>
              <a:rPr lang="tr-TR" sz="3200" b="1" i="1" dirty="0" err="1">
                <a:solidFill>
                  <a:srgbClr val="00FF00"/>
                </a:solidFill>
              </a:rPr>
              <a:t>Company</a:t>
            </a: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>
                <a:solidFill>
                  <a:schemeClr val="bg1"/>
                </a:solidFill>
              </a:rPr>
              <a:t>CROMNIA has </a:t>
            </a:r>
            <a:r>
              <a:rPr lang="tr-TR" sz="2000" b="1" dirty="0" err="1">
                <a:solidFill>
                  <a:schemeClr val="bg1"/>
                </a:solidFill>
              </a:rPr>
              <a:t>been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established</a:t>
            </a:r>
            <a:r>
              <a:rPr lang="tr-TR" sz="2000" b="1" dirty="0">
                <a:solidFill>
                  <a:schemeClr val="bg1"/>
                </a:solidFill>
              </a:rPr>
              <a:t> in 2009 as a </a:t>
            </a:r>
            <a:r>
              <a:rPr lang="tr-TR" sz="2000" b="1" dirty="0" err="1">
                <a:solidFill>
                  <a:schemeClr val="bg1"/>
                </a:solidFill>
              </a:rPr>
              <a:t>contract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research</a:t>
            </a:r>
            <a:r>
              <a:rPr lang="tr-TR" sz="2000" b="1" dirty="0">
                <a:solidFill>
                  <a:schemeClr val="bg1"/>
                </a:solidFill>
              </a:rPr>
              <a:t>    </a:t>
            </a:r>
            <a:r>
              <a:rPr lang="tr-TR" sz="2000" b="1" dirty="0" err="1">
                <a:solidFill>
                  <a:schemeClr val="bg1"/>
                </a:solidFill>
              </a:rPr>
              <a:t>organization</a:t>
            </a:r>
            <a:r>
              <a:rPr lang="tr-TR" sz="2000" b="1" dirty="0">
                <a:solidFill>
                  <a:schemeClr val="bg1"/>
                </a:solidFill>
              </a:rPr>
              <a:t> (CRO) in </a:t>
            </a:r>
            <a:r>
              <a:rPr lang="tr-TR" sz="2000" b="1" dirty="0" err="1">
                <a:solidFill>
                  <a:schemeClr val="bg1"/>
                </a:solidFill>
              </a:rPr>
              <a:t>Izmir</a:t>
            </a:r>
            <a:r>
              <a:rPr lang="tr-TR" sz="2000" b="1" dirty="0">
                <a:solidFill>
                  <a:schemeClr val="bg1"/>
                </a:solidFill>
              </a:rPr>
              <a:t>, </a:t>
            </a:r>
            <a:r>
              <a:rPr lang="tr-TR" sz="2000" b="1" dirty="0" err="1">
                <a:solidFill>
                  <a:schemeClr val="bg1"/>
                </a:solidFill>
              </a:rPr>
              <a:t>Turkey</a:t>
            </a:r>
            <a:endParaRPr lang="tr-TR" sz="2000" b="1" dirty="0">
              <a:solidFill>
                <a:schemeClr val="bg1"/>
              </a:solidFill>
            </a:endParaRPr>
          </a:p>
          <a:p>
            <a:pPr>
              <a:buFont typeface="Arial" charset="0"/>
              <a:buChar char="•"/>
            </a:pPr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" name="AutoShape 2"/>
          <p:cNvSpPr>
            <a:spLocks noChangeArrowheads="1"/>
          </p:cNvSpPr>
          <p:nvPr/>
        </p:nvSpPr>
        <p:spPr bwMode="auto">
          <a:xfrm>
            <a:off x="468313" y="549275"/>
            <a:ext cx="8424862" cy="5759450"/>
          </a:xfrm>
          <a:prstGeom prst="roundRect">
            <a:avLst>
              <a:gd name="adj" fmla="val 12273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3200" b="1" i="1" dirty="0" err="1">
                <a:solidFill>
                  <a:srgbClr val="00FF00"/>
                </a:solidFill>
              </a:rPr>
              <a:t>Our</a:t>
            </a:r>
            <a:r>
              <a:rPr lang="tr-TR" sz="3200" b="1" i="1" dirty="0">
                <a:solidFill>
                  <a:srgbClr val="00FF00"/>
                </a:solidFill>
              </a:rPr>
              <a:t> </a:t>
            </a:r>
            <a:r>
              <a:rPr lang="tr-TR" sz="3200" b="1" i="1" dirty="0" err="1">
                <a:solidFill>
                  <a:srgbClr val="00FF00"/>
                </a:solidFill>
              </a:rPr>
              <a:t>Company</a:t>
            </a:r>
            <a:endParaRPr lang="tr-TR" sz="3200" b="1" i="1" dirty="0">
              <a:solidFill>
                <a:srgbClr val="00FF00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>
                <a:solidFill>
                  <a:schemeClr val="bg1"/>
                </a:solidFill>
              </a:rPr>
              <a:t>CROMNIA has a </a:t>
            </a:r>
            <a:r>
              <a:rPr lang="tr-TR" sz="2000" b="1" dirty="0" err="1">
                <a:solidFill>
                  <a:schemeClr val="bg1"/>
                </a:solidFill>
              </a:rPr>
              <a:t>wide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scope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the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management</a:t>
            </a:r>
            <a:r>
              <a:rPr lang="tr-TR" sz="2000" b="1" dirty="0">
                <a:solidFill>
                  <a:schemeClr val="bg1"/>
                </a:solidFill>
              </a:rPr>
              <a:t> of </a:t>
            </a:r>
            <a:r>
              <a:rPr lang="tr-TR" sz="2000" b="1" dirty="0" err="1">
                <a:solidFill>
                  <a:schemeClr val="bg1"/>
                </a:solidFill>
              </a:rPr>
              <a:t>Phase</a:t>
            </a:r>
            <a:r>
              <a:rPr lang="tr-TR" sz="2000" b="1" dirty="0">
                <a:solidFill>
                  <a:schemeClr val="bg1"/>
                </a:solidFill>
              </a:rPr>
              <a:t> II - IV of </a:t>
            </a:r>
            <a:r>
              <a:rPr lang="tr-TR" sz="2000" b="1" dirty="0" err="1">
                <a:solidFill>
                  <a:schemeClr val="bg1"/>
                </a:solidFill>
              </a:rPr>
              <a:t>clinical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observational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research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projects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all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therapeutic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areas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In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addition</a:t>
            </a:r>
            <a:r>
              <a:rPr lang="tr-TR" sz="2000" b="1" dirty="0">
                <a:solidFill>
                  <a:schemeClr val="bg1"/>
                </a:solidFill>
              </a:rPr>
              <a:t>, CROMNIA </a:t>
            </a:r>
            <a:r>
              <a:rPr lang="tr-TR" sz="2000" b="1" dirty="0" err="1">
                <a:solidFill>
                  <a:schemeClr val="bg1"/>
                </a:solidFill>
              </a:rPr>
              <a:t>supports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Phase</a:t>
            </a:r>
            <a:r>
              <a:rPr lang="tr-TR" sz="2000" b="1" dirty="0">
                <a:solidFill>
                  <a:schemeClr val="bg1"/>
                </a:solidFill>
              </a:rPr>
              <a:t> I </a:t>
            </a:r>
            <a:r>
              <a:rPr lang="tr-TR" sz="2000" b="1" dirty="0" err="1">
                <a:solidFill>
                  <a:schemeClr val="bg1"/>
                </a:solidFill>
              </a:rPr>
              <a:t>studies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collaboration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with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Phase</a:t>
            </a:r>
            <a:r>
              <a:rPr lang="tr-TR" sz="2000" b="1" dirty="0">
                <a:solidFill>
                  <a:schemeClr val="bg1"/>
                </a:solidFill>
              </a:rPr>
              <a:t> I </a:t>
            </a:r>
            <a:r>
              <a:rPr lang="tr-TR" sz="2000" b="1" dirty="0" err="1">
                <a:solidFill>
                  <a:schemeClr val="bg1"/>
                </a:solidFill>
              </a:rPr>
              <a:t>Units</a:t>
            </a:r>
            <a:r>
              <a:rPr lang="tr-TR" sz="2000" b="1" dirty="0">
                <a:solidFill>
                  <a:schemeClr val="bg1"/>
                </a:solidFill>
              </a:rPr>
              <a:t> of </a:t>
            </a:r>
            <a:r>
              <a:rPr lang="tr-TR" sz="2000" b="1" dirty="0" err="1">
                <a:solidFill>
                  <a:schemeClr val="bg1"/>
                </a:solidFill>
              </a:rPr>
              <a:t>Medical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Faculties</a:t>
            </a:r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468313" y="549275"/>
            <a:ext cx="8424862" cy="5759450"/>
          </a:xfrm>
          <a:prstGeom prst="roundRect">
            <a:avLst>
              <a:gd name="adj" fmla="val 12273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3200" b="1" i="1" dirty="0" err="1">
                <a:solidFill>
                  <a:srgbClr val="00FF00"/>
                </a:solidFill>
              </a:rPr>
              <a:t>Our</a:t>
            </a:r>
            <a:r>
              <a:rPr lang="tr-TR" sz="3200" b="1" i="1" dirty="0">
                <a:solidFill>
                  <a:srgbClr val="00FF00"/>
                </a:solidFill>
              </a:rPr>
              <a:t> </a:t>
            </a:r>
            <a:r>
              <a:rPr lang="tr-TR" sz="3200" b="1" i="1" dirty="0" err="1">
                <a:solidFill>
                  <a:srgbClr val="00FF00"/>
                </a:solidFill>
              </a:rPr>
              <a:t>Company</a:t>
            </a:r>
            <a:endParaRPr lang="tr-TR" sz="3200" b="1" i="1" dirty="0">
              <a:solidFill>
                <a:srgbClr val="00FF00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Besides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medical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doctors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its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clinical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team</a:t>
            </a:r>
            <a:r>
              <a:rPr lang="tr-TR" sz="2000" b="1" dirty="0">
                <a:solidFill>
                  <a:schemeClr val="bg1"/>
                </a:solidFill>
              </a:rPr>
              <a:t>, CROMNIA has a </a:t>
            </a:r>
            <a:r>
              <a:rPr lang="tr-TR" sz="2000" b="1" dirty="0" err="1">
                <a:solidFill>
                  <a:schemeClr val="bg1"/>
                </a:solidFill>
              </a:rPr>
              <a:t>wide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range</a:t>
            </a:r>
            <a:r>
              <a:rPr lang="tr-TR" sz="2000" b="1" dirty="0">
                <a:solidFill>
                  <a:schemeClr val="bg1"/>
                </a:solidFill>
              </a:rPr>
              <a:t> of </a:t>
            </a:r>
            <a:r>
              <a:rPr lang="tr-TR" sz="2000" b="1" dirty="0" err="1">
                <a:solidFill>
                  <a:schemeClr val="bg1"/>
                </a:solidFill>
              </a:rPr>
              <a:t>investigator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database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throughout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the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country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>
                <a:solidFill>
                  <a:schemeClr val="bg1"/>
                </a:solidFill>
              </a:rPr>
              <a:t>CROMNIA </a:t>
            </a:r>
            <a:r>
              <a:rPr lang="tr-TR" sz="2000" b="1" dirty="0" err="1">
                <a:solidFill>
                  <a:schemeClr val="bg1"/>
                </a:solidFill>
              </a:rPr>
              <a:t>provides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appropriate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proactive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solutions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coordination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with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related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parties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to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avoid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and</a:t>
            </a:r>
            <a:r>
              <a:rPr lang="tr-TR" sz="2000" b="1" dirty="0">
                <a:solidFill>
                  <a:schemeClr val="bg1"/>
                </a:solidFill>
              </a:rPr>
              <a:t>/</a:t>
            </a:r>
            <a:r>
              <a:rPr lang="tr-TR" sz="2000" b="1" dirty="0" err="1">
                <a:solidFill>
                  <a:schemeClr val="bg1"/>
                </a:solidFill>
              </a:rPr>
              <a:t>or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resolve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any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possible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issues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that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may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occur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during</a:t>
            </a:r>
            <a:r>
              <a:rPr lang="tr-TR" sz="2000" b="1" dirty="0">
                <a:solidFill>
                  <a:schemeClr val="bg1"/>
                </a:solidFill>
              </a:rPr>
              <a:t> a </a:t>
            </a:r>
            <a:r>
              <a:rPr lang="tr-TR" sz="2000" b="1" dirty="0" err="1">
                <a:solidFill>
                  <a:schemeClr val="bg1"/>
                </a:solidFill>
              </a:rPr>
              <a:t>research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project</a:t>
            </a:r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" name="AutoShape 2"/>
          <p:cNvSpPr>
            <a:spLocks noChangeArrowheads="1"/>
          </p:cNvSpPr>
          <p:nvPr/>
        </p:nvSpPr>
        <p:spPr bwMode="auto">
          <a:xfrm>
            <a:off x="468313" y="549275"/>
            <a:ext cx="8424862" cy="5759450"/>
          </a:xfrm>
          <a:prstGeom prst="roundRect">
            <a:avLst>
              <a:gd name="adj" fmla="val 12273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3200" b="1" i="1" dirty="0" err="1">
                <a:solidFill>
                  <a:srgbClr val="00FF00"/>
                </a:solidFill>
              </a:rPr>
              <a:t>Our</a:t>
            </a:r>
            <a:r>
              <a:rPr lang="tr-TR" sz="3200" b="1" i="1" dirty="0">
                <a:solidFill>
                  <a:srgbClr val="00FF00"/>
                </a:solidFill>
              </a:rPr>
              <a:t> </a:t>
            </a:r>
            <a:r>
              <a:rPr lang="tr-TR" sz="3200" b="1" i="1" dirty="0" err="1">
                <a:solidFill>
                  <a:srgbClr val="00FF00"/>
                </a:solidFill>
              </a:rPr>
              <a:t>Services</a:t>
            </a:r>
            <a:endParaRPr lang="tr-TR" sz="3200" b="1" i="1" dirty="0">
              <a:solidFill>
                <a:srgbClr val="00FF00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>
                <a:solidFill>
                  <a:schemeClr val="bg1"/>
                </a:solidFill>
              </a:rPr>
              <a:t>Site </a:t>
            </a:r>
            <a:r>
              <a:rPr lang="tr-TR" sz="2000" b="1" dirty="0" err="1">
                <a:solidFill>
                  <a:schemeClr val="bg1"/>
                </a:solidFill>
              </a:rPr>
              <a:t>Selection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Feasibility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Clinical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and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Observational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Trial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Management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Regulatory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Affairs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Medical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Writing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>
                <a:solidFill>
                  <a:schemeClr val="bg1"/>
                </a:solidFill>
              </a:rPr>
              <a:t>Site </a:t>
            </a:r>
            <a:r>
              <a:rPr lang="tr-TR" sz="2000" b="1" dirty="0" err="1">
                <a:solidFill>
                  <a:schemeClr val="bg1"/>
                </a:solidFill>
              </a:rPr>
              <a:t>Coordinator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Services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Medical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Translation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Investigator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Meeting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Organization</a:t>
            </a:r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468313" y="549275"/>
            <a:ext cx="8424862" cy="5759450"/>
          </a:xfrm>
          <a:prstGeom prst="roundRect">
            <a:avLst>
              <a:gd name="adj" fmla="val 12273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3200" b="1" i="1" dirty="0" err="1">
                <a:solidFill>
                  <a:srgbClr val="00FF00"/>
                </a:solidFill>
              </a:rPr>
              <a:t>Our</a:t>
            </a:r>
            <a:r>
              <a:rPr lang="tr-TR" sz="3200" b="1" i="1" dirty="0">
                <a:solidFill>
                  <a:srgbClr val="00FF00"/>
                </a:solidFill>
              </a:rPr>
              <a:t> </a:t>
            </a:r>
            <a:r>
              <a:rPr lang="tr-TR" sz="3200" b="1" i="1" dirty="0" err="1">
                <a:solidFill>
                  <a:srgbClr val="00FF00"/>
                </a:solidFill>
              </a:rPr>
              <a:t>Team</a:t>
            </a:r>
            <a:endParaRPr lang="tr-TR" sz="3200" b="1" i="1" dirty="0">
              <a:solidFill>
                <a:srgbClr val="00FF00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  <a:p>
            <a:r>
              <a:rPr lang="tr-TR" sz="2000" b="1" dirty="0" err="1">
                <a:solidFill>
                  <a:schemeClr val="bg1"/>
                </a:solidFill>
              </a:rPr>
              <a:t>The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founder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members</a:t>
            </a:r>
            <a:r>
              <a:rPr lang="tr-TR" sz="2000" b="1" dirty="0">
                <a:solidFill>
                  <a:schemeClr val="bg1"/>
                </a:solidFill>
              </a:rPr>
              <a:t> of CROMNIA </a:t>
            </a:r>
            <a:r>
              <a:rPr lang="tr-TR" sz="2000" b="1" dirty="0" err="1">
                <a:solidFill>
                  <a:schemeClr val="bg1"/>
                </a:solidFill>
              </a:rPr>
              <a:t>have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adequate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individual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experience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conducting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many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clinical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trials</a:t>
            </a:r>
            <a:r>
              <a:rPr lang="tr-TR" sz="2000" b="1" dirty="0">
                <a:solidFill>
                  <a:schemeClr val="bg1"/>
                </a:solidFill>
              </a:rPr>
              <a:t> in </a:t>
            </a:r>
            <a:r>
              <a:rPr lang="tr-TR" sz="2000" b="1" dirty="0" err="1">
                <a:solidFill>
                  <a:schemeClr val="bg1"/>
                </a:solidFill>
              </a:rPr>
              <a:t>various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therapeutic</a:t>
            </a:r>
            <a:r>
              <a:rPr lang="tr-TR" sz="2000" b="1" dirty="0">
                <a:solidFill>
                  <a:schemeClr val="bg1"/>
                </a:solidFill>
              </a:rPr>
              <a:t> </a:t>
            </a:r>
            <a:r>
              <a:rPr lang="tr-TR" sz="2000" b="1" dirty="0" err="1">
                <a:solidFill>
                  <a:schemeClr val="bg1"/>
                </a:solidFill>
              </a:rPr>
              <a:t>areas</a:t>
            </a:r>
            <a:endParaRPr lang="tr-TR" sz="2000" b="1" dirty="0">
              <a:solidFill>
                <a:schemeClr val="bg1"/>
              </a:solidFill>
            </a:endParaRPr>
          </a:p>
          <a:p>
            <a:endParaRPr lang="tr-TR" sz="2000" b="1" dirty="0">
              <a:solidFill>
                <a:schemeClr val="bg1"/>
              </a:solidFill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" name="10 Dikdörtgen"/>
          <p:cNvSpPr/>
          <p:nvPr/>
        </p:nvSpPr>
        <p:spPr>
          <a:xfrm>
            <a:off x="611188" y="476250"/>
            <a:ext cx="4465637" cy="865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tr-TR" sz="3200" b="1" i="1" dirty="0" err="1">
                <a:solidFill>
                  <a:srgbClr val="00FF00"/>
                </a:solidFill>
                <a:latin typeface="Arial" charset="0"/>
                <a:cs typeface="Arial" charset="0"/>
              </a:rPr>
              <a:t>Our Experience</a:t>
            </a:r>
          </a:p>
        </p:txBody>
      </p:sp>
      <p:graphicFrame>
        <p:nvGraphicFramePr>
          <p:cNvPr id="14" name="13 Tablo"/>
          <p:cNvGraphicFramePr>
            <a:graphicFrameLocks noGrp="1"/>
          </p:cNvGraphicFramePr>
          <p:nvPr/>
        </p:nvGraphicFramePr>
        <p:xfrm>
          <a:off x="395288" y="1557338"/>
          <a:ext cx="8400255" cy="46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85"/>
                <a:gridCol w="2800085"/>
                <a:gridCol w="2800085"/>
              </a:tblGrid>
              <a:tr h="470428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Therapeutic</a:t>
                      </a:r>
                      <a:r>
                        <a:rPr lang="tr-TR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Area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Indication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Phase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Cardiovascular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Atrial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fibrillation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Dermatology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Onychomycosis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Gastroenterology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Ulcerative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colitis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823250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Hematology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Non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-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Hodgkin’s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Lymphoma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947843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Immunology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Assessing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Immunogenicity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and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safety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of IC43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Infectious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Diseases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Nasocomial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Pneumonia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Nephrology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Chronic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renal</a:t>
                      </a:r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b="1" dirty="0" err="1" smtClean="0">
                          <a:solidFill>
                            <a:srgbClr val="FFFFFF"/>
                          </a:solidFill>
                        </a:rPr>
                        <a:t>failure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 smtClean="0">
                          <a:solidFill>
                            <a:srgbClr val="FFFFFF"/>
                          </a:solidFill>
                        </a:rPr>
                        <a:t>III</a:t>
                      </a:r>
                      <a:endParaRPr lang="tr-TR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 rot="19485038">
            <a:off x="6745709" y="5179119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79838" y="1889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79613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ADVENTAGES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OF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7380288" y="148431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OUR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TEAM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377983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CROMNIA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79388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IZMIR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380288" y="42211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NEW BYLAW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IN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5580063" y="5516563"/>
            <a:ext cx="1584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ABOUT</a:t>
            </a:r>
          </a:p>
          <a:p>
            <a:pPr algn="ctr"/>
            <a:r>
              <a:rPr lang="tr-TR">
                <a:solidFill>
                  <a:srgbClr val="00FF00"/>
                </a:solidFill>
                <a:latin typeface="Impact" pitchFamily="34" charset="0"/>
              </a:rPr>
              <a:t>TURKEY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1" name="10 Dikdörtgen"/>
          <p:cNvSpPr/>
          <p:nvPr/>
        </p:nvSpPr>
        <p:spPr>
          <a:xfrm>
            <a:off x="611188" y="476250"/>
            <a:ext cx="4465637" cy="865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tr-TR" sz="3200" b="1" i="1" dirty="0" err="1">
                <a:solidFill>
                  <a:srgbClr val="00FF00"/>
                </a:solidFill>
                <a:latin typeface="Arial" charset="0"/>
                <a:cs typeface="Arial" charset="0"/>
              </a:rPr>
              <a:t>Our Experience</a:t>
            </a:r>
          </a:p>
        </p:txBody>
      </p:sp>
      <p:graphicFrame>
        <p:nvGraphicFramePr>
          <p:cNvPr id="13" name="12 Tablo"/>
          <p:cNvGraphicFramePr>
            <a:graphicFrameLocks noGrp="1"/>
          </p:cNvGraphicFramePr>
          <p:nvPr/>
        </p:nvGraphicFramePr>
        <p:xfrm>
          <a:off x="395288" y="1557338"/>
          <a:ext cx="8400255" cy="3789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85"/>
                <a:gridCol w="2800085"/>
                <a:gridCol w="2800085"/>
              </a:tblGrid>
              <a:tr h="470428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Therapeutic</a:t>
                      </a:r>
                      <a:r>
                        <a:rPr lang="tr-TR" sz="24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Area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Indication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Phase</a:t>
                      </a:r>
                      <a:endParaRPr lang="tr-TR" sz="24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Nephrology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Renal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transplantation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IV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Neurology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Multiple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sclerosis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IV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Oncology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Lung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cancer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690973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Physical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Treatment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Rehabilitation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Osteoporosis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720080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Psychiatry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Attention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deficit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hiperactivity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disorder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476962"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Respiratory</a:t>
                      </a:r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Diseases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 kern="1200" dirty="0" err="1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Asthma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 smtClean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endParaRPr lang="tr-TR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dunya_ve_ay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539750" y="1052513"/>
            <a:ext cx="8064500" cy="47529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r>
              <a:rPr lang="tr-TR" sz="5400" dirty="0">
                <a:solidFill>
                  <a:schemeClr val="bg1"/>
                </a:solidFill>
                <a:latin typeface="Impact" pitchFamily="34" charset="0"/>
              </a:rPr>
              <a:t>     </a:t>
            </a:r>
            <a:r>
              <a:rPr lang="tr-TR" sz="5400" dirty="0" err="1">
                <a:solidFill>
                  <a:srgbClr val="00FF00"/>
                </a:solidFill>
                <a:latin typeface="Impact" pitchFamily="34" charset="0"/>
              </a:rPr>
              <a:t>O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bjectivity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and</a:t>
            </a:r>
            <a:endParaRPr lang="tr-TR" sz="5400" dirty="0">
              <a:solidFill>
                <a:srgbClr val="00B0F0"/>
              </a:solidFill>
              <a:latin typeface="Impact" pitchFamily="34" charset="0"/>
            </a:endParaRPr>
          </a:p>
          <a:p>
            <a:r>
              <a:rPr lang="tr-TR" sz="5400" dirty="0">
                <a:solidFill>
                  <a:schemeClr val="bg1"/>
                </a:solidFill>
                <a:latin typeface="Impact" pitchFamily="34" charset="0"/>
              </a:rPr>
              <a:t>     </a:t>
            </a:r>
            <a:r>
              <a:rPr lang="tr-TR" sz="5400" dirty="0" err="1">
                <a:solidFill>
                  <a:srgbClr val="00FF00"/>
                </a:solidFill>
                <a:latin typeface="Impact" pitchFamily="34" charset="0"/>
              </a:rPr>
              <a:t>M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orality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is</a:t>
            </a:r>
          </a:p>
          <a:p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    </a:t>
            </a:r>
            <a:r>
              <a:rPr lang="tr-TR" sz="5400" dirty="0" err="1">
                <a:solidFill>
                  <a:srgbClr val="00FF00"/>
                </a:solidFill>
                <a:latin typeface="Impact" pitchFamily="34" charset="0"/>
              </a:rPr>
              <a:t>N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ecessary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for</a:t>
            </a:r>
            <a:endParaRPr lang="tr-TR" sz="5400" dirty="0">
              <a:solidFill>
                <a:srgbClr val="00B0F0"/>
              </a:solidFill>
              <a:latin typeface="Impact" pitchFamily="34" charset="0"/>
            </a:endParaRPr>
          </a:p>
          <a:p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    </a:t>
            </a:r>
            <a:r>
              <a:rPr lang="tr-TR" sz="5400" dirty="0" err="1">
                <a:solidFill>
                  <a:srgbClr val="00FF00"/>
                </a:solidFill>
                <a:latin typeface="Impact" pitchFamily="34" charset="0"/>
              </a:rPr>
              <a:t>I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ntegrity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and</a:t>
            </a:r>
            <a:endParaRPr lang="tr-TR" sz="5400" dirty="0">
              <a:solidFill>
                <a:srgbClr val="00B0F0"/>
              </a:solidFill>
              <a:latin typeface="Impact" pitchFamily="34" charset="0"/>
            </a:endParaRPr>
          </a:p>
          <a:p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    </a:t>
            </a:r>
            <a:r>
              <a:rPr lang="tr-TR" sz="5400" dirty="0" err="1">
                <a:solidFill>
                  <a:srgbClr val="00FF00"/>
                </a:solidFill>
                <a:latin typeface="Impact" pitchFamily="34" charset="0"/>
              </a:rPr>
              <a:t>A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ccuracy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of </a:t>
            </a:r>
            <a:r>
              <a:rPr lang="tr-TR" sz="5400" dirty="0" err="1">
                <a:solidFill>
                  <a:srgbClr val="00B0F0"/>
                </a:solidFill>
                <a:latin typeface="Impact" pitchFamily="34" charset="0"/>
              </a:rPr>
              <a:t>your</a:t>
            </a:r>
            <a:r>
              <a:rPr lang="tr-TR" sz="5400" dirty="0">
                <a:solidFill>
                  <a:srgbClr val="00B0F0"/>
                </a:solidFill>
                <a:latin typeface="Impact" pitchFamily="34" charset="0"/>
              </a:rPr>
              <a:t> data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 rot="19485038">
            <a:off x="6529685" y="4891087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/>
      <p:bldP spid="92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2" descr="aaa01"/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1" y="1"/>
            <a:ext cx="9143999" cy="685799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145421" name="Text Box 13"/>
          <p:cNvSpPr txBox="1">
            <a:spLocks noChangeArrowheads="1"/>
          </p:cNvSpPr>
          <p:nvPr/>
        </p:nvSpPr>
        <p:spPr bwMode="auto">
          <a:xfrm>
            <a:off x="0" y="5734050"/>
            <a:ext cx="9144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5000" b="1" i="1" dirty="0" err="1" smtClean="0">
                <a:solidFill>
                  <a:srgbClr val="00FF00"/>
                </a:solidFill>
                <a:latin typeface="Franklin Gothic Demi Cond" pitchFamily="34" charset="0"/>
              </a:rPr>
              <a:t>Thank</a:t>
            </a:r>
            <a:r>
              <a:rPr lang="tr-TR" sz="5000" b="1" i="1" dirty="0" smtClean="0">
                <a:solidFill>
                  <a:srgbClr val="00FF00"/>
                </a:solidFill>
                <a:latin typeface="Franklin Gothic Demi Cond" pitchFamily="34" charset="0"/>
              </a:rPr>
              <a:t> </a:t>
            </a:r>
            <a:r>
              <a:rPr lang="tr-TR" sz="5000" b="1" i="1" dirty="0" err="1" smtClean="0">
                <a:solidFill>
                  <a:srgbClr val="00FF00"/>
                </a:solidFill>
                <a:latin typeface="Franklin Gothic Demi Cond" pitchFamily="34" charset="0"/>
              </a:rPr>
              <a:t>you</a:t>
            </a:r>
            <a:r>
              <a:rPr lang="tr-TR" sz="5000" b="1" i="1" dirty="0" smtClean="0">
                <a:solidFill>
                  <a:srgbClr val="00FF00"/>
                </a:solidFill>
                <a:latin typeface="Franklin Gothic Demi Cond" pitchFamily="34" charset="0"/>
              </a:rPr>
              <a:t> </a:t>
            </a:r>
            <a:r>
              <a:rPr lang="tr-TR" sz="5000" b="1" i="1" dirty="0" err="1" smtClean="0">
                <a:solidFill>
                  <a:srgbClr val="00FF00"/>
                </a:solidFill>
                <a:latin typeface="Franklin Gothic Demi Cond" pitchFamily="34" charset="0"/>
              </a:rPr>
              <a:t>for</a:t>
            </a:r>
            <a:r>
              <a:rPr lang="tr-TR" sz="5000" b="1" i="1" dirty="0" smtClean="0">
                <a:solidFill>
                  <a:srgbClr val="00FF00"/>
                </a:solidFill>
                <a:latin typeface="Franklin Gothic Demi Cond" pitchFamily="34" charset="0"/>
              </a:rPr>
              <a:t> </a:t>
            </a:r>
            <a:r>
              <a:rPr lang="tr-TR" sz="5000" b="1" i="1" dirty="0" err="1" smtClean="0">
                <a:solidFill>
                  <a:srgbClr val="00FF00"/>
                </a:solidFill>
                <a:latin typeface="Franklin Gothic Demi Cond" pitchFamily="34" charset="0"/>
              </a:rPr>
              <a:t>allowing</a:t>
            </a:r>
            <a:r>
              <a:rPr lang="tr-TR" sz="5000" b="1" i="1" dirty="0" smtClean="0">
                <a:solidFill>
                  <a:srgbClr val="00FF00"/>
                </a:solidFill>
                <a:latin typeface="Franklin Gothic Demi Cond" pitchFamily="34" charset="0"/>
              </a:rPr>
              <a:t> </a:t>
            </a:r>
            <a:r>
              <a:rPr lang="tr-TR" sz="5000" b="1" i="1" dirty="0" err="1" smtClean="0">
                <a:solidFill>
                  <a:srgbClr val="00FF00"/>
                </a:solidFill>
                <a:latin typeface="Franklin Gothic Demi Cond" pitchFamily="34" charset="0"/>
              </a:rPr>
              <a:t>your</a:t>
            </a:r>
            <a:r>
              <a:rPr lang="tr-TR" sz="5000" b="1" i="1" dirty="0" smtClean="0">
                <a:solidFill>
                  <a:srgbClr val="00FF00"/>
                </a:solidFill>
                <a:latin typeface="Franklin Gothic Demi Cond" pitchFamily="34" charset="0"/>
              </a:rPr>
              <a:t> time..</a:t>
            </a:r>
            <a:endParaRPr lang="en-GB" sz="5000" b="1" i="1" dirty="0">
              <a:solidFill>
                <a:srgbClr val="00FF00"/>
              </a:solidFill>
              <a:latin typeface="Franklin Gothic Demi Cond" pitchFamily="34" charset="0"/>
            </a:endParaRPr>
          </a:p>
        </p:txBody>
      </p:sp>
      <p:pic>
        <p:nvPicPr>
          <p:cNvPr id="1026" name="Picture 2" descr="C:\Users\HP\Desktop\CROMNIA_Gözlemsel\cromnia fotos\DSC02889.JPG"/>
          <p:cNvPicPr>
            <a:picLocks noChangeAspect="1" noChangeArrowheads="1"/>
          </p:cNvPicPr>
          <p:nvPr/>
        </p:nvPicPr>
        <p:blipFill>
          <a:blip r:embed="rId4" cstate="print">
            <a:lum bright="4000"/>
          </a:blip>
          <a:srcRect l="5254" t="5813" r="14209" b="5354"/>
          <a:stretch>
            <a:fillRect/>
          </a:stretch>
        </p:blipFill>
        <p:spPr bwMode="auto">
          <a:xfrm>
            <a:off x="0" y="0"/>
            <a:ext cx="9144000" cy="5661248"/>
          </a:xfrm>
          <a:prstGeom prst="rect">
            <a:avLst/>
          </a:prstGeom>
          <a:noFill/>
        </p:spPr>
      </p:pic>
      <p:sp>
        <p:nvSpPr>
          <p:cNvPr id="5" name="Text Box 9"/>
          <p:cNvSpPr txBox="1">
            <a:spLocks noChangeArrowheads="1"/>
          </p:cNvSpPr>
          <p:nvPr/>
        </p:nvSpPr>
        <p:spPr bwMode="auto">
          <a:xfrm rot="19485038">
            <a:off x="48965" y="220291"/>
            <a:ext cx="32035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6600" dirty="0" err="1">
                <a:solidFill>
                  <a:srgbClr val="00FF00"/>
                </a:solidFill>
                <a:latin typeface="Brush Script MT" pitchFamily="66" charset="0"/>
              </a:rPr>
              <a:t>Cromnia</a:t>
            </a:r>
            <a:endParaRPr lang="tr-TR" sz="6600" dirty="0">
              <a:solidFill>
                <a:srgbClr val="00FF00"/>
              </a:solidFill>
              <a:latin typeface="Brush Script MT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1" grpId="0"/>
      <p:bldP spid="5" grpId="0"/>
    </p:bldLst>
  </p:timing>
</p:sld>
</file>

<file path=ppt/theme/theme1.xml><?xml version="1.0" encoding="utf-8"?>
<a:theme xmlns:a="http://schemas.openxmlformats.org/drawingml/2006/main" name="Varsayılan Tasarım">
  <a:themeElements>
    <a:clrScheme name="Varsayılan Tasarı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arsayılan Tasarı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arsayılan Tasarı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393</Words>
  <Application>Microsoft Office PowerPoint</Application>
  <PresentationFormat>Ekran Gösterisi (4:3)</PresentationFormat>
  <Paragraphs>223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Varsayılan Tasarım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</vt:vector>
  </TitlesOfParts>
  <Company>Lenovo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ece</dc:creator>
  <cp:lastModifiedBy>HP</cp:lastModifiedBy>
  <cp:revision>57</cp:revision>
  <dcterms:created xsi:type="dcterms:W3CDTF">2009-11-19T13:10:28Z</dcterms:created>
  <dcterms:modified xsi:type="dcterms:W3CDTF">2011-08-09T19:58:40Z</dcterms:modified>
</cp:coreProperties>
</file>